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32"/>
    <p:sldId id="282" r:id="rId33"/>
    <p:sldId id="283" r:id="rId34"/>
    <p:sldId id="284" r:id="rId35"/>
    <p:sldId id="285" r:id="rId3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· CIÊNCIAS DO ESPORTE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psicométrico do humor e da fadiga em atletas de handebol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durante um microciclo de treinamento de alta intensidade (HIIT)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observacional longitudinal com validação psicométrica robusta e correção de medidas repetidas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atletas de elite</a:t>
            </a:r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456 observações   ·   135 pares pré→pós   ·   microciclo de 7 dias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[Autor]  ·  [Orientador]  ·  [Instituição]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esta apresentação está organizada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57400"/>
            <a:ext cx="402336" cy="402336"/>
          </a:xfrm>
          <a:prstGeom prst="ellipse">
            <a:avLst/>
          </a:prstGeom>
          <a:solidFill>
            <a:srgbClr val="245C8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219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central e hipóteses (H1–H5)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37960" y="2057400"/>
            <a:ext cx="402336" cy="402336"/>
          </a:xfrm>
          <a:prstGeom prst="ellipse">
            <a:avLst/>
          </a:prstGeom>
          <a:solidFill>
            <a:srgbClr val="245C8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2219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desenho, amostra, instrumentos e framework analítico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566160"/>
            <a:ext cx="402336" cy="402336"/>
          </a:xfrm>
          <a:prstGeom prst="ellipse">
            <a:avLst/>
          </a:prstGeom>
          <a:solidFill>
            <a:srgbClr val="0E8C8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— Bloco 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medida (psicometria do BRUMS)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37960" y="3566160"/>
            <a:ext cx="402336" cy="402336"/>
          </a:xfrm>
          <a:prstGeom prst="ellipse">
            <a:avLst/>
          </a:prstGeom>
          <a:solidFill>
            <a:srgbClr val="0E8C8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379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— Bloco 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e resposta ao treino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22960" y="5074920"/>
            <a:ext cx="402336" cy="402336"/>
          </a:xfrm>
          <a:prstGeom prst="ellipse">
            <a:avLst/>
          </a:prstGeom>
          <a:solidFill>
            <a:srgbClr val="0E8C8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— Bloco 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2395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 decisão de monitoramento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61772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537960" y="5074920"/>
            <a:ext cx="402336" cy="402336"/>
          </a:xfrm>
          <a:prstGeom prst="ellipse">
            <a:avLst/>
          </a:prstGeom>
          <a:solidFill>
            <a:srgbClr val="C7871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37960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818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&amp; Conclusões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523951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mensagens-chave, aplicações e limitações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psicométrico do humor e da fadiga · handebol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— e como — monitorar humor e fadiga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monitoramento subjetivo é sensível, barato e não invasivo — muitas vezes supera marcadores objetivos.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sua interpretação exige rigor psicométrico e métodos que respeitem as medidas repetidas.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577840" cy="932688"/>
          </a:xfrm>
          <a:prstGeom prst="roundRect">
            <a:avLst>
              <a:gd name="adj" fmla="val 8824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31912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Psicometria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520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e estrutura do BRUMS em atletas raramente documentadas; efeito piso ignorado.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577840" cy="932688"/>
          </a:xfrm>
          <a:prstGeom prst="roundRect">
            <a:avLst>
              <a:gd name="adj" fmla="val 8824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4242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Agudo vs. crônico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da sessão x acúmulo semanal e o papel do HIIT não separados.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5577840" cy="932688"/>
          </a:xfrm>
          <a:prstGeom prst="roundRect">
            <a:avLst>
              <a:gd name="adj" fmla="val 8824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52943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Traço vs. estado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5623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do humor é estável x situacional? Define se a decisão individual é viável.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22438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665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METODOLÓGICA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2860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Distinguir limitação de mensuração de ausência de efeito é condição para interpretar corretamente o monitoramento do humor.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66560" y="42976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subescala pode “não responder” por dois motivos muito diferentes: o fenômeno não ocorre, ou o instrumento não consegue medi-lo (piso).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problema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geral e hipóteses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como o perfil de humor de atletas de handebol de elite se comporta ao longo de um microciclo de alta intensidade e o quanto esse comportamento pode ser medido de forma confiável — distinguindo o efeito piso da ausência real de efeito.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que respeitam a estrutura de medidas repetidas (atleta como unidade amostral).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122438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37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22677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humor deteriora ao longo da semana, no eixo energia–fadiga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99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dias de HIIT associam-se a mais fadiga, menos vigor e maior perturbação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23760" y="369417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subescalas negativas têm efeito piso e baixa sensibilidade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44256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440740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 variância é traço → decisão isolada é frágil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51389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51206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BRUMS é válido no eixo energia–fadiga; a fragilidade das negativas é piso, não ausência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 em três blocos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847088"/>
            <a:ext cx="402336" cy="402336"/>
          </a:xfrm>
          <a:prstGeom prst="ellipse">
            <a:avLst/>
          </a:prstGeom>
          <a:solidFill>
            <a:srgbClr val="245C8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da medida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confiabilidade clássica e ordinal (α, ω) sob efeito piso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estrutura fatorial (AFC/WLSMV), AVE, CR e HTMT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TRI e invariância de medida (pré↔pós e semana)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erro de medida (SEM, MDC₉₅, ETM) e ICC de agregação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9432" y="1847088"/>
            <a:ext cx="402336" cy="402336"/>
          </a:xfrm>
          <a:prstGeom prst="ellipse">
            <a:avLst/>
          </a:prstGeom>
          <a:solidFill>
            <a:srgbClr val="0E8C8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Trajetória e resposta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trajetória temporal e crescimento multinível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resposta aguda pré→pós (dz, FDR) sem pseudorreplicação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 deslocamento multivariado (Hotelling, PERMANOVA)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(h) HIIT × técnico-tático (dia e resposta aguda)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perfil iceberg e os seis perfis de humor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94192" y="1847088"/>
            <a:ext cx="402336" cy="402336"/>
          </a:xfrm>
          <a:prstGeom prst="ellipse">
            <a:avLst/>
          </a:prstGeom>
          <a:solidFill>
            <a:srgbClr val="C7871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9419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e decisão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(j) determinantes e integração multimodal (sono, estresse)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(k) variância traço × estado e mecanismo do piso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(l) recuperação, acúmulo e regra de decisão individual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(m) robustez a múltiplas especificações e bootstrap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do estudo e amostra</a:t>
            </a:r>
            <a:endParaRPr lang="en-US" sz="2900" dirty="0"/>
          </a:p>
        </p:txBody>
      </p:sp>
      <p:pic>
        <p:nvPicPr>
          <p:cNvPr id="4" name="Image 0" descr="deck/img_desen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841248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0" y="164592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23544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10412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atletas de elite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0" y="2697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235440" y="2788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10412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válidas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0" y="374904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23544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104120" y="3931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pré→pós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0" y="480060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235440" y="4892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0104120" y="4983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de HIIT (D2,4,7)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desenho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analítico: do dado bruto à decisão</a:t>
            </a:r>
            <a:endParaRPr lang="en-US" sz="2900" dirty="0"/>
          </a:p>
        </p:txBody>
      </p:sp>
      <p:pic>
        <p:nvPicPr>
          <p:cNvPr id="4" name="Image 0" descr="deck/fig_framework_hierarqu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77240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600200"/>
            <a:ext cx="3291840" cy="4480560"/>
          </a:xfrm>
          <a:prstGeom prst="roundRect">
            <a:avLst>
              <a:gd name="adj" fmla="val 2500"/>
            </a:avLst>
          </a:prstGeom>
          <a:solidFill>
            <a:srgbClr val="122438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4108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CENTRAL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2194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atleta é a unidade amostral.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41080" y="2880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~135 pares como independentes (pseudorreplicação) infla a significância. Agregar por atleta corrige isso.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41080" y="44805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de métodos — frequentista, permutação e bayesiano — separa efeito real de artefato de medida.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framework analítico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da medida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psicometria do BRUMS neste microciclo — o que o instrumento consegue medir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23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A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Confiabilidade e efeito piso</a:t>
            </a:r>
            <a:endParaRPr lang="en-US" sz="2900" dirty="0"/>
          </a:p>
        </p:txBody>
      </p:sp>
      <p:pic>
        <p:nvPicPr>
          <p:cNvPr id="4" name="Image 0" descr="deck/chart_reli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394960" cy="3383280"/>
          </a:xfrm>
          <a:prstGeom prst="rect">
            <a:avLst/>
          </a:prstGeom>
        </p:spPr>
      </p:pic>
      <p:pic>
        <p:nvPicPr>
          <p:cNvPr id="5" name="Image 1" descr="deck/chart_fl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48640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029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 Raiva/Depressão/Fadiga bons; Tensão frágil (0,43)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264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Negativas 50–80% no piso; Vigor e Fadiga ocupam a escala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“fragilidade” das negativas é efeito piso; a Tensão recupera-se como construto latente (ω ordinal = 0,79). [obj. a, d · H3, H5]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 · confiabilidade &amp; piso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Estrutura, itens e validade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105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CFI = 0,960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 de 6 fatores: ajuste excelente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8105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RMSEA = 0,027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23591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aproximação baixo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182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HTMT &lt; 0,85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 discriminante em todos os pares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3182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a₁ &gt; 1,5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3730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discriminação na maioria dos itens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122438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5262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seis fatores supera o unidimensional (CFI 0,768) e o de dois fatores (0,842): o humor, tal como medido pelo BRUMS, é genuinamente multidimensional. A confiabilidade ordinal (ω) reabilita a Tensão antes subestimada pelo α clássico.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 · estrutura &amp; validade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Trajetória e resposta ao treino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com o humor ao longo da semana e após cada sessão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23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B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Trajetória semanal do humor</a:t>
            </a:r>
            <a:endParaRPr lang="en-US" sz="2900" dirty="0"/>
          </a:p>
        </p:txBody>
      </p:sp>
      <p:pic>
        <p:nvPicPr>
          <p:cNvPr id="4" name="Image 0" descr="deck/chart_tra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704088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45920"/>
            <a:ext cx="3931920" cy="4023360"/>
          </a:xfrm>
          <a:prstGeom prst="roundRect">
            <a:avLst>
              <a:gd name="adj" fmla="val 2093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04672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eixo energia–fadiga se desloca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0" y="265176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física 4,2 → 7,6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(BRUMS) 4,0 → 7,5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Vigor 7,6 → 4,5 (espelho)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pico no Dia 7 (8,3)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Deterioração por acúmulo — pior no Dia 7, não um dia intermediário.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humor deteriora ao longo da semana, concentrado no eixo energia–fadiga. [confirma H1]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 · trajetória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aguda pré→pós (corrigida)</a:t>
            </a:r>
            <a:endParaRPr lang="en-US" sz="2900" dirty="0"/>
          </a:p>
        </p:txBody>
      </p:sp>
      <p:pic>
        <p:nvPicPr>
          <p:cNvPr id="4" name="Image 0" descr="deck/chart_ac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704088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45920"/>
            <a:ext cx="3931920" cy="4023360"/>
          </a:xfrm>
          <a:prstGeom prst="roundRect">
            <a:avLst>
              <a:gd name="adj" fmla="val 2093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04672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eixo energia–fadiga sobrevive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0" y="2606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agregar por atleta e corrigir múltiplas comparações (FDR), apenas fadiga física, fadiga e PTH sobrevivem; o vigor fica limítrofe (p = 0,061).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sobrevive à FDR    ○ limítrofe / n.s.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física dz = 0,76. As negativas não respondem — coerente com o efeito piso. [obj. f · H3]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 · resposta aguda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HIIT × técnico-tático e o perfil iceberg</a:t>
            </a:r>
            <a:endParaRPr lang="en-US" sz="2900" dirty="0"/>
          </a:p>
        </p:txBody>
      </p:sp>
      <p:pic>
        <p:nvPicPr>
          <p:cNvPr id="4" name="Image 0" descr="deck/chart_icebe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3949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92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iceberg derrete: 71% → 33%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26480" y="1645920"/>
            <a:ext cx="553212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355080" y="17647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ΔPTH = +2,47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8240" y="17647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humor no NÍVEL DO DIA em HIIT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2743200"/>
            <a:ext cx="553212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55080" y="28620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interação = 0,703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778240" y="28620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aguda NÃO distingue HIIT de técnico-tático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3840480"/>
            <a:ext cx="553212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355080" y="39593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≈ 0,58–0,62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778240" y="39593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humor discrimina o tipo de dia só levemente acima do acaso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HIIT pesa por ACÚMULO (nível do dia), não por um choque agudo específico da sessão. [H2, com ressalva de confundimento volume×intensidade]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 · HIIT &amp; iceberg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Confirmação multivariada do deslocamento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562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Hotelling T² (6 subescalas)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0" y="18562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F(6,21) = 2,52 · p = 0,054 · D = 0,83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0" y="18562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limítrofe: as 4 negativas diluem o efeito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109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2278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Vigor + Fadiga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32278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F(2,25) = 5,59 · p = 0,010 · D = 0,66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0" y="32278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robusto: o efeito se concentra aqui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109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4599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PERMANOVA (permutação no atleta)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45994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pseudo-F = 3,36 · p &lt; 0,001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9760" y="459943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de distribuição, respeita o aninhamento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vias independentes (paramétrica e permutacional) convergem: o perfil de humor se desloca, sobretudo no eixo energia–fadiga. [obj. g]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B · multivariada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e decisão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Traço x estado, erro de medida e a tradução em decisão de monitoramento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223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C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Traço × estado e erro de medida</a:t>
            </a:r>
            <a:endParaRPr lang="en-US" sz="2900" dirty="0"/>
          </a:p>
        </p:txBody>
      </p:sp>
      <p:pic>
        <p:nvPicPr>
          <p:cNvPr id="4" name="Image 0" descr="deck/chart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704088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64592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0467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parte é traço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do atleta 0,26–0,67. Só o eixo energia–fadiga reserva variância de estado suficiente (31–34%) para responder ao treino.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70332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122438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046720" y="3886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ETM &gt; SWC em todas as variáveis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0" y="4480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coleta isolada é ruidosa [ICC(1,1)=0,31–0,59], mas a média de 7 dias é boa a excelente [ICC(1,7)=0,76–0,91].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individual exige médias de múltiplas coletas — não leituras isoladas. [obj. k · H4]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 · traço × estado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BLOCO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Mudança individual e recuperação noturna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379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926080" y="183794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fadiga da sessão é revertida durante a noite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8379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95360" y="183794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atletas com aumento confiável (RCI) de fadiga física D1→D7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095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+8,7 pts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0" y="320954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da linha de base do PTH (D1→D7): resíduo acumula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32095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ETM 27%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95360" y="320954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física — a variável menos ruidosa (sentinela)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aguda é reversível, mas o resíduo não recuperado acumula — mecanismo do pior estado no Dia 7. [obj. l]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 · recuperação &amp; RCI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mensagens-chave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1B2E46"/>
          </a:solidFill>
          <a:ln w="12700">
            <a:solidFill>
              <a:srgbClr val="2A3E5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65960"/>
            <a:ext cx="402336" cy="402336"/>
          </a:xfrm>
          <a:prstGeom prst="ellipse">
            <a:avLst/>
          </a:prstGeom>
          <a:solidFill>
            <a:srgbClr val="C7871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eixo energia–fadiga carrega a resposta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sobe e vigor cai em espelho; as negativas permanecem silenciosas — a dinâmica é energética, não emocional-negativa.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1B2E46"/>
          </a:solidFill>
          <a:ln w="12700">
            <a:solidFill>
              <a:srgbClr val="2A3E5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17720" y="1965960"/>
            <a:ext cx="402336" cy="402336"/>
          </a:xfrm>
          <a:prstGeom prst="ellipse">
            <a:avLst/>
          </a:prstGeom>
          <a:solidFill>
            <a:srgbClr val="C7871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1772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não-resposta é limite de medida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piso (50–80%) + variância dominada por traço. r = −0,93 entre piso e responsividade: só o que é bem medido revela o efeito.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1B2E46"/>
          </a:solidFill>
          <a:ln w="12700">
            <a:solidFill>
              <a:srgbClr val="2A3E5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12480" y="1965960"/>
            <a:ext cx="402336" cy="402336"/>
          </a:xfrm>
          <a:prstGeom prst="ellipse">
            <a:avLst/>
          </a:prstGeom>
          <a:solidFill>
            <a:srgbClr val="C7871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Acúmulo, não choque agudo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HIIT atua como pedágio cumulativo; o pior estado emerge no Dia 7 por resíduo não recuperado, não por uma sessão isolada.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· mensagens-chave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Ancoragem na literatura atual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Paradoxo agudo–crônico do HIIT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jovens de elite, HIIT e jogos reduzidos produzem respostas sobreponíveis (Ouertatani et al., 2022); a resposta afetiva depende de intensidade e contexto (Batrakoulis &amp; Fatouros, 2022).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interna no handebol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de pico de 97–99% e sRPE elevado convergem com os perfis de carga da modalidade (Kniubaite et al., 2019; Struzik et al., 2026).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subjetivo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Sensível, mas com relação fraca-moderada com a carga externa (Duignan et al., 2020); métodos subjetivos e de FC são complementares (Nuuttila et al., 2024).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transcultural do BRUMS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ordinal (ω) reabilita as subescalas de piso, em linha com validações recentes (Vlachopoulos et al., 2023; Lew et al., 2023; Sahli et al., 2023).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· literatura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do estudo e principais achados</a:t>
            </a:r>
            <a:endParaRPr lang="en-US" sz="2900" dirty="0"/>
          </a:p>
        </p:txBody>
      </p:sp>
      <p:pic>
        <p:nvPicPr>
          <p:cNvPr id="4" name="Image 0" descr="deck/fig_master_estu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11274552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visual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por hipótese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731520"/>
          </a:xfrm>
          <a:prstGeom prst="roundRect">
            <a:avLst>
              <a:gd name="adj" fmla="val 1125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45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no eixo energia–fadiga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418320" y="182880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4F5EE"/>
          </a:solidFill>
          <a:ln w="12700">
            <a:solidFill>
              <a:srgbClr val="0E8C8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41832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109960" cy="731520"/>
          </a:xfrm>
          <a:prstGeom prst="roundRect">
            <a:avLst>
              <a:gd name="adj" fmla="val 1125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48716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4871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HIIT pior no nível do dia (por acúmulo)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18320" y="2670048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4F5EE"/>
          </a:solidFill>
          <a:ln w="12700">
            <a:solidFill>
              <a:srgbClr val="0E8C8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418320" y="26700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SUSTENTADA*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11109960" cy="731520"/>
          </a:xfrm>
          <a:prstGeom prst="roundRect">
            <a:avLst>
              <a:gd name="adj" fmla="val 1125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32841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32841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piso e baixa sensibilidade das negativas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18320" y="3511296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4F5EE"/>
          </a:solidFill>
          <a:ln w="12700">
            <a:solidFill>
              <a:srgbClr val="0E8C8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418320" y="35112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11109960" cy="731520"/>
          </a:xfrm>
          <a:prstGeom prst="roundRect">
            <a:avLst>
              <a:gd name="adj" fmla="val 1125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16966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416966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dominada por traço (decisão isolada frágil)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18320" y="4352544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4F5EE"/>
          </a:solidFill>
          <a:ln w="12700">
            <a:solidFill>
              <a:srgbClr val="0E8C8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418320" y="4352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11109960" cy="731520"/>
          </a:xfrm>
          <a:prstGeom prst="roundRect">
            <a:avLst>
              <a:gd name="adj" fmla="val 11250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501091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45920" y="501091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no eixo; fragilidade das negativas é piso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418320" y="5193792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4F5EE"/>
          </a:solidFill>
          <a:ln w="12700">
            <a:solidFill>
              <a:srgbClr val="0E8C8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418320" y="5193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 a ressalva do confundimento volume × intensidade (dias de HIIT são os de menor volume).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monitorar na prática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9222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PRIMÁRIO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7647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Fadiga física (0–10)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040880" y="1764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a sensibilidade, sem efeito piso e menos ruidosa (ETM 27%)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8712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8437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 de 5–7 dias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284378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típico excede a menor mudança relevante numa coleta isolada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9502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392277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individual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40880" y="392277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 variância é traço → normas de grupo enganam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5029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50017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8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Mudança &gt; MDC₉₅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40880" y="50017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só quando a variação ultrapassa o ruído da medida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&amp; ROBUSTEZ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confiança nos resultados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5F8FC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observacional, sem grupo controle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 modalidade confundidos (HIIT nos dias curtos)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piso severo limita as subescalas negativas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“Pré/pós” = 1ª e última coleta do dia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única, masculina, um microciclo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22438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REPRODUTIBILIDADE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análise foi reconstruída dos dados brutos e recalculada.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1248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checagens realizadas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977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2480" y="3977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reproduzem exatamente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892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correspondência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&amp; robustez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78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Monitorar o eixo energia–fadiga, por tendência e por atleta.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fadiga física é a sentinela; as emoções negativas silenciam por limite de medida, não por ausência de estresse. Respeitar as medidas repetidas é condição para conclusões corretas.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 ·  Referências e material suplementar disponíveis (auditoria, workbook e manuscrito auditado).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200">
                <a:solidFill>
                  <a:srgbClr val="0E8C86"/>
                </a:solidFill>
                <a:latin typeface="Calibri"/>
              </a:rPr>
              <a:t>RESULTADOS · SÍNTESE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900" b="1" i="0">
                <a:solidFill>
                  <a:srgbClr val="14243A"/>
                </a:solidFill>
                <a:latin typeface="Cambria"/>
              </a:rPr>
              <a:t>Painel de monitoramento e visualizações</a:t>
            </a:r>
          </a:p>
        </p:txBody>
      </p:sp>
      <p:pic>
        <p:nvPicPr>
          <p:cNvPr id="4" name="Picture 3" descr="monitoramento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394960" cy="4105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600200"/>
            <a:ext cx="5532120" cy="900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660200"/>
            <a:ext cx="5074920" cy="7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245C8B"/>
                </a:solidFill>
                <a:latin typeface="Cambria"/>
              </a:rPr>
              <a:t>A · Medidores (gauge)</a:t>
            </a:r>
          </a:p>
          <a:p>
            <a:r>
              <a:rPr sz="1150" b="0" i="0">
                <a:solidFill>
                  <a:srgbClr val="5B6B82"/>
                </a:solidFill>
                <a:latin typeface="Calibri"/>
              </a:rPr>
              <a:t>indicadores-chave sobre zonas de referência: dz fadiga física, AUC, perfil iceberg e HTMT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630200"/>
            <a:ext cx="5532120" cy="900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690200"/>
            <a:ext cx="5074920" cy="7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Cambria"/>
              </a:rPr>
              <a:t>B · Radar do humor</a:t>
            </a:r>
          </a:p>
          <a:p>
            <a:r>
              <a:rPr sz="1150" b="0" i="0">
                <a:solidFill>
                  <a:srgbClr val="5B6B82"/>
                </a:solidFill>
                <a:latin typeface="Calibri"/>
              </a:rPr>
              <a:t>perfil das 6 subescalas pré vs. pós — a “montanha” de vigor achata (erosão do iceberg)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60200"/>
            <a:ext cx="5532120" cy="900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720200"/>
            <a:ext cx="5074920" cy="7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C7871B"/>
                </a:solidFill>
                <a:latin typeface="Cambria"/>
              </a:rPr>
              <a:t>C · Monitoramento diário</a:t>
            </a:r>
          </a:p>
          <a:p>
            <a:r>
              <a:rPr sz="1150" b="0" i="0">
                <a:solidFill>
                  <a:srgbClr val="5B6B82"/>
                </a:solidFill>
                <a:latin typeface="Calibri"/>
              </a:rPr>
              <a:t>carga de humor D1→D7 com faixas de alerta e dias de HIIT — pico no D7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690200"/>
            <a:ext cx="5532120" cy="9000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750200"/>
            <a:ext cx="5074920" cy="7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7A4FB0"/>
                </a:solidFill>
                <a:latin typeface="Cambria"/>
              </a:rPr>
              <a:t>D · Mapa 4D das variáveis</a:t>
            </a:r>
          </a:p>
          <a:p>
            <a:r>
              <a:rPr sz="1150" b="0" i="0">
                <a:solidFill>
                  <a:srgbClr val="5B6B82"/>
                </a:solidFill>
                <a:latin typeface="Calibri"/>
              </a:rPr>
              <a:t>resposta aguda × acúmulo × individualidade × consenso direcional por variável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064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 i="0">
                <a:solidFill>
                  <a:srgbClr val="C7871B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14243A"/>
                </a:solidFill>
                <a:latin typeface="Calibri"/>
              </a:rPr>
              <a:t>Um só painel resume as três âncoras do estudo: resposta no eixo energia–fadiga, forte individualidade entre atletas e monitoramento por tendência (a fadiga física é a sentinela).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93A1B5"/>
                </a:solidFill>
                <a:latin typeface="Calibri"/>
              </a:rPr>
              <a:t>Síntese visual · monitoramento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3A1B5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200">
                <a:solidFill>
                  <a:srgbClr val="0E8C86"/>
                </a:solidFill>
                <a:latin typeface="Calibri"/>
              </a:rPr>
              <a:t>RESULTADOS · INVARIÂNCIA DE MEDIDA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8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14243A"/>
                </a:solidFill>
                <a:latin typeface="Cambria"/>
              </a:rPr>
              <a:t>Invariância estrita (resíduos) e parcial</a:t>
            </a:r>
          </a:p>
        </p:txBody>
      </p:sp>
      <p:pic>
        <p:nvPicPr>
          <p:cNvPr id="4" name="Picture 3" descr="invariancia_estrita_parcial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9041"/>
            <a:ext cx="6850000" cy="26619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560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0000" y="1615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45C8B"/>
                </a:solidFill>
                <a:latin typeface="Cambria"/>
              </a:rPr>
              <a:t>Métrica sustentada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ΔCFI −0,004 (modelo conjunto); Tucker φ 0,992 — as cargas são congruentes pré→pós.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60000" y="2537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0000" y="2592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E7D5B"/>
                </a:solidFill>
                <a:latin typeface="Cambria"/>
              </a:rPr>
              <a:t>Escalar aproximada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viés residual de intercepto RMS 0,135; deslocamento latente na fadiga (+0,56) e vigor (−0,26).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0" y="3515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0000" y="3570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mbria"/>
              </a:rPr>
              <a:t>Estrita no limite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fixando também as variâncias de erro θ: CFI 0,913→0,898 (ΔCFI −0,015).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4492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000" y="4547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Cambria"/>
              </a:rPr>
              <a:t>Parcial restabelece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liberando “Sonolento” (fadiga_3) e vigor_4, o viés cai 0,135→0,064 — quebra local, não global.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60000"/>
            <a:ext cx="11094720" cy="7000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60000"/>
            <a:ext cx="1064472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A mudança pré→pós é um deslocamento de estado, não artefato de medida: a invariância se sustenta e a quebra é local e identificada.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93A1B5"/>
                </a:solidFill>
                <a:latin typeface="Calibri"/>
              </a:rPr>
              <a:t>BRUMS × HIIT · síntese analítica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3A1B5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200">
                <a:solidFill>
                  <a:srgbClr val="0E8C86"/>
                </a:solidFill>
                <a:latin typeface="Calibri"/>
              </a:rPr>
              <a:t>RESULTADOS · CARGA × HUMOR E PREDITORES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8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14243A"/>
                </a:solidFill>
                <a:latin typeface="Cambria"/>
              </a:rPr>
              <a:t>Carga interna × humor e preditores de estado de fadiga</a:t>
            </a:r>
          </a:p>
        </p:txBody>
      </p:sp>
      <p:pic>
        <p:nvPicPr>
          <p:cNvPr id="4" name="Picture 3" descr="carga_humor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16079"/>
            <a:ext cx="6850000" cy="30478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560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0000" y="1615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45C8B"/>
                </a:solidFill>
                <a:latin typeface="Cambria"/>
              </a:rPr>
              <a:t>Desacoplamento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PSE/FC/TRIMP × humor: nada sobrevive à FDR — a carga prescreve o estímulo, não a resposta.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60000" y="2537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0000" y="2592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Cambria"/>
              </a:rPr>
              <a:t>Mais sensível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fadiga física: AUC 0,90 (estado-lábil, ICC 0,28) — a melhor sentinela de estado.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0" y="3515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0000" y="3570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E7D5B"/>
                </a:solidFill>
                <a:latin typeface="Cambria"/>
              </a:rPr>
              <a:t>Sensível E confiável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fadiga mental (ICC 0,72) e depressão (ICC 0,79) — marcadores estáveis dia a 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4492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000" y="4547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mbria"/>
              </a:rPr>
              <a:t>Confiável, porém cega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tensão: a mais estável (ICC 0,83), mas AUC 0,54 — não discrimina fadiga.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60000"/>
            <a:ext cx="11094720" cy="7000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60000"/>
            <a:ext cx="1064472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Para monitorar fadiga: fadiga física pela sensibilidade; fadiga mental e depressão pela confiabilidade. Reencontra-se o eixo energia–fadiga.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93A1B5"/>
                </a:solidFill>
                <a:latin typeface="Calibri"/>
              </a:rPr>
              <a:t>BRUMS × HIIT · síntese analítica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3A1B5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200">
                <a:solidFill>
                  <a:srgbClr val="0E8C86"/>
                </a:solidFill>
                <a:latin typeface="Calibri"/>
              </a:rPr>
              <a:t>RESULTADOS · ESTATÍSTICA DESCRITIVA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8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14243A"/>
                </a:solidFill>
                <a:latin typeface="Cambria"/>
              </a:rPr>
              <a:t>Estatística descritiva: distribuições e normalidade</a:t>
            </a:r>
          </a:p>
        </p:txBody>
      </p:sp>
      <p:pic>
        <p:nvPicPr>
          <p:cNvPr id="4" name="Picture 3" descr="descritiva_completa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0000"/>
            <a:ext cx="5259067" cy="376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560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0000" y="1615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45C8B"/>
                </a:solidFill>
                <a:latin typeface="Cambria"/>
              </a:rPr>
              <a:t>Histogramas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distribuição da fadiga física pré vs. pós — deslocamento à direita no pós.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60000" y="2537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0000" y="2592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Cambria"/>
              </a:rPr>
              <a:t>Box plots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pré×pós das variáveis-chave: fadiga sobe, vigor recua (eixo energia–fadiga).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0" y="3515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0000" y="3570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E7D5B"/>
                </a:solidFill>
                <a:latin typeface="Cambria"/>
              </a:rPr>
              <a:t>Dispersão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vigor × fadiga com r≈−0,44 — a relação inversa que define o eixo.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4492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000" y="4547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mbria"/>
              </a:rPr>
              <a:t>Normalidade (Q–Q)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desvios da normal no pré e no pós (Shapiro–Wilk) — justifica permutação.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60000"/>
            <a:ext cx="11094720" cy="7000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60000"/>
            <a:ext cx="1064472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Distribuições assimétricas e não-normais (efeito piso nas negativas): as decisões são confirmadas por testes não-paramétricos e permutação.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93A1B5"/>
                </a:solidFill>
                <a:latin typeface="Calibri"/>
              </a:rPr>
              <a:t>BRUMS × HIIT · síntese analítica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3A1B5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200">
                <a:solidFill>
                  <a:srgbClr val="0E8C86"/>
                </a:solidFill>
                <a:latin typeface="Calibri"/>
              </a:rPr>
              <a:t>MÉTODO · PROTOCOLO DE HIIT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8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14243A"/>
                </a:solidFill>
                <a:latin typeface="Cambria"/>
              </a:rPr>
              <a:t>Protocolo de HIIT: 4 × 4 min a 104% da velocidade de pico</a:t>
            </a:r>
          </a:p>
        </p:txBody>
      </p:sp>
      <p:pic>
        <p:nvPicPr>
          <p:cNvPr id="4" name="Picture 3" descr="hiit_protocolo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4771"/>
            <a:ext cx="6850000" cy="26904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560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0000" y="1615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45C8B"/>
                </a:solidFill>
                <a:latin typeface="Cambria"/>
              </a:rPr>
              <a:t>Estímulo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4 séries de 4 min a 104% da velocidade de pico (teste de campo), 3 min de intervalo.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60000" y="2537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0000" y="2592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0392B"/>
                </a:solidFill>
                <a:latin typeface="Cambria"/>
              </a:rPr>
              <a:t>FC das séries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pico ~186 bpm; média das 4 séries ~179 bpm — próximo ao teto aeróbio.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0" y="35150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0000" y="35700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2E7D5B"/>
                </a:solidFill>
                <a:latin typeface="Cambria"/>
              </a:rPr>
              <a:t>Recuperação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FC de recuperação sobe ao longo da sessão (~124 bpm): deriva/recuperação incompleta.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0000" y="4492500"/>
            <a:ext cx="4129080" cy="827500"/>
          </a:xfrm>
          <a:prstGeom prst="roundRect">
            <a:avLst>
              <a:gd name="adj" fmla="val 9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000" y="4547500"/>
            <a:ext cx="3809080" cy="7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mbria"/>
              </a:rPr>
              <a:t>PSE</a:t>
            </a:r>
          </a:p>
          <a:p>
            <a:r>
              <a:rPr sz="1050" b="0" i="0">
                <a:solidFill>
                  <a:srgbClr val="5B6B82"/>
                </a:solidFill>
                <a:latin typeface="Calibri"/>
              </a:rPr>
              <a:t>esforço percebido final ~9,9 (quase o teto da escala 0–10).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60000"/>
            <a:ext cx="11094720" cy="7000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60000"/>
            <a:ext cx="10644720" cy="7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C7871B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Carga interna quase-máxima e progressiva — o regime de teto explica por que a carga não prediz a resposta de humor.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93A1B5"/>
                </a:solidFill>
                <a:latin typeface="Calibri"/>
              </a:rPr>
              <a:t>BRUMS × HIIT · síntese analítica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3A1B5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2026-07-29T17:33:35Z</dcterms:created>
  <dcterms:modified xsi:type="dcterms:W3CDTF">2026-07-29T17:33:35Z</dcterms:modified>
</cp:coreProperties>
</file>